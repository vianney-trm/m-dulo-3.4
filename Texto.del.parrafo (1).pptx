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8288000" cy="10287000"/>
  <p:notesSz cx="6858000" cy="9144000"/>
  <p:embeddedFontLst>
    <p:embeddedFont>
      <p:font typeface="Courier Prime" panose="020B0604020202020204" charset="0"/>
      <p:regular r:id="rId11"/>
    </p:embeddedFont>
    <p:embeddedFont>
      <p:font typeface="Courier Prime Bold" panose="020B0604020202020204" charset="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45" d="100"/>
          <a:sy n="45" d="100"/>
        </p:scale>
        <p:origin x="816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3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443949" y="3440104"/>
            <a:ext cx="7576550" cy="12967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999"/>
              </a:lnSpc>
            </a:pPr>
            <a:r>
              <a:rPr lang="en-US" sz="8771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Contenidos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3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0" y="-102870"/>
            <a:ext cx="9314578" cy="10389870"/>
            <a:chOff x="0" y="0"/>
            <a:chExt cx="3397983" cy="379025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397983" cy="3790253"/>
            </a:xfrm>
            <a:custGeom>
              <a:avLst/>
              <a:gdLst/>
              <a:ahLst/>
              <a:cxnLst/>
              <a:rect l="l" t="t" r="r" b="b"/>
              <a:pathLst>
                <a:path w="3397983" h="3790253">
                  <a:moveTo>
                    <a:pt x="0" y="0"/>
                  </a:moveTo>
                  <a:lnTo>
                    <a:pt x="3397983" y="0"/>
                  </a:lnTo>
                  <a:lnTo>
                    <a:pt x="3397983" y="3790253"/>
                  </a:lnTo>
                  <a:lnTo>
                    <a:pt x="0" y="3790253"/>
                  </a:lnTo>
                  <a:close/>
                </a:path>
              </a:pathLst>
            </a:custGeom>
            <a:solidFill>
              <a:srgbClr val="2D2D35"/>
            </a:solidFill>
          </p:spPr>
        </p:sp>
      </p:grpSp>
      <p:sp>
        <p:nvSpPr>
          <p:cNvPr id="4" name="Freeform 4"/>
          <p:cNvSpPr/>
          <p:nvPr/>
        </p:nvSpPr>
        <p:spPr>
          <a:xfrm>
            <a:off x="10063716" y="1180737"/>
            <a:ext cx="7475145" cy="7027254"/>
          </a:xfrm>
          <a:custGeom>
            <a:avLst/>
            <a:gdLst/>
            <a:ahLst/>
            <a:cxnLst/>
            <a:rect l="l" t="t" r="r" b="b"/>
            <a:pathLst>
              <a:path w="7475145" h="7027254">
                <a:moveTo>
                  <a:pt x="0" y="0"/>
                </a:moveTo>
                <a:lnTo>
                  <a:pt x="7475145" y="0"/>
                </a:lnTo>
                <a:lnTo>
                  <a:pt x="7475145" y="7027254"/>
                </a:lnTo>
                <a:lnTo>
                  <a:pt x="0" y="70272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506" r="-20506"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028700" y="1047750"/>
            <a:ext cx="7031406" cy="5829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556"/>
              </a:lnSpc>
            </a:pPr>
            <a:r>
              <a:rPr lang="en-US" sz="3997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El Código {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80111" y="2923413"/>
            <a:ext cx="6988679" cy="63188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37"/>
              </a:lnSpc>
            </a:pPr>
            <a:r>
              <a:rPr lang="en-US" sz="2159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El Ciclo de Vida del Software es un proceso estructurado que organiza todas las etapas del desarrollo para obtener software de calidad. Existen diferentes modelos para implementarlo:</a:t>
            </a:r>
          </a:p>
          <a:p>
            <a:pPr marL="0" lvl="0" indent="0" algn="l">
              <a:lnSpc>
                <a:spcPts val="2937"/>
              </a:lnSpc>
            </a:pPr>
            <a:r>
              <a:rPr lang="en-US" sz="2159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• Modelo en Cascada: Secuencial y lineal, cada fase debe completarse antes de iniciar la siguiente. Ideal para proyectos con requisitos bien definidos.</a:t>
            </a:r>
          </a:p>
          <a:p>
            <a:pPr marL="0" lvl="0" indent="0" algn="l">
              <a:lnSpc>
                <a:spcPts val="2937"/>
              </a:lnSpc>
            </a:pPr>
            <a:r>
              <a:rPr lang="en-US" sz="2159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• Modelo Incremental: Divide el proyecto en entregas parciales funcionales. Permite obtener resultados tempranos y ajustar según retroalimentación.</a:t>
            </a:r>
          </a:p>
          <a:p>
            <a:pPr marL="0" lvl="0" indent="0" algn="l">
              <a:lnSpc>
                <a:spcPts val="2937"/>
              </a:lnSpc>
            </a:pPr>
            <a:r>
              <a:rPr lang="en-US" sz="2159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• Modelo Ágil: Iterativo y flexible, se adapta a cambios constantes. Favorece la colaboración continua con el cliente y entregas frecuentes.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6557135" y="8675370"/>
            <a:ext cx="702165" cy="5829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4556"/>
              </a:lnSpc>
            </a:pPr>
            <a:r>
              <a:rPr lang="en-US" sz="3997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}</a:t>
            </a:r>
          </a:p>
        </p:txBody>
      </p:sp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3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70578" y="-102870"/>
            <a:ext cx="9314578" cy="10389870"/>
            <a:chOff x="0" y="0"/>
            <a:chExt cx="3397983" cy="379025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397983" cy="3790253"/>
            </a:xfrm>
            <a:custGeom>
              <a:avLst/>
              <a:gdLst/>
              <a:ahLst/>
              <a:cxnLst/>
              <a:rect l="l" t="t" r="r" b="b"/>
              <a:pathLst>
                <a:path w="3397983" h="3790253">
                  <a:moveTo>
                    <a:pt x="0" y="0"/>
                  </a:moveTo>
                  <a:lnTo>
                    <a:pt x="3397983" y="0"/>
                  </a:lnTo>
                  <a:lnTo>
                    <a:pt x="3397983" y="3790253"/>
                  </a:lnTo>
                  <a:lnTo>
                    <a:pt x="0" y="3790253"/>
                  </a:lnTo>
                  <a:close/>
                </a:path>
              </a:pathLst>
            </a:custGeom>
            <a:solidFill>
              <a:srgbClr val="2D2D35"/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1028700" y="1047750"/>
            <a:ext cx="7031406" cy="11544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556"/>
              </a:lnSpc>
            </a:pPr>
            <a:r>
              <a:rPr lang="en-US" sz="3997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Objetivos del Ciclo de Vida {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6557135" y="8675370"/>
            <a:ext cx="702165" cy="5829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4556"/>
              </a:lnSpc>
            </a:pPr>
            <a:r>
              <a:rPr lang="en-US" sz="3997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}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80111" y="2913888"/>
            <a:ext cx="6988679" cy="43064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07"/>
              </a:lnSpc>
            </a:pPr>
            <a:r>
              <a:rPr lang="en-US" sz="2285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El ciclo de vida del software tiene objetivos claros que guían cada fase del desarrollo. Estos objetivos aseguran que el producto final sea funcional, eficiente y cumpla con las expectativas del cliente.</a:t>
            </a:r>
          </a:p>
          <a:p>
            <a:pPr marL="0" lvl="0" indent="0" algn="l">
              <a:lnSpc>
                <a:spcPts val="3107"/>
              </a:lnSpc>
            </a:pPr>
            <a:r>
              <a:rPr lang="en-US" sz="2285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Cada objetivo está diseñado para minimizar riesgos, optimizar recursos y garantizar que el software pueda evolucionar con el tiempo según las necesidades cambiantes del negocio.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824553" y="3134287"/>
            <a:ext cx="5235400" cy="47738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227"/>
              </a:lnSpc>
            </a:pPr>
            <a:r>
              <a:rPr lang="en-US" sz="2285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Mejorar la calidad del producto.</a:t>
            </a:r>
          </a:p>
          <a:p>
            <a:pPr marL="0" lvl="0" indent="0" algn="l">
              <a:lnSpc>
                <a:spcPts val="4227"/>
              </a:lnSpc>
            </a:pPr>
            <a:r>
              <a:rPr lang="en-US" sz="2285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Reducir errores y costos.</a:t>
            </a:r>
          </a:p>
          <a:p>
            <a:pPr marL="0" lvl="0" indent="0" algn="l">
              <a:lnSpc>
                <a:spcPts val="4227"/>
              </a:lnSpc>
            </a:pPr>
            <a:r>
              <a:rPr lang="en-US" sz="2285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Facilitar el mantenimiento.</a:t>
            </a:r>
          </a:p>
          <a:p>
            <a:pPr marL="0" lvl="0" indent="0" algn="l">
              <a:lnSpc>
                <a:spcPts val="4227"/>
              </a:lnSpc>
            </a:pPr>
            <a:r>
              <a:rPr lang="en-US" sz="2285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Cumplir necesidades del usuario.</a:t>
            </a:r>
          </a:p>
          <a:p>
            <a:pPr marL="0" lvl="0" indent="0" algn="l">
              <a:lnSpc>
                <a:spcPts val="4227"/>
              </a:lnSpc>
            </a:pPr>
            <a:r>
              <a:rPr lang="en-US" sz="2285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Documentar procesos.</a:t>
            </a:r>
          </a:p>
          <a:p>
            <a:pPr marL="0" lvl="0" indent="0" algn="l">
              <a:lnSpc>
                <a:spcPts val="4227"/>
              </a:lnSpc>
            </a:pPr>
            <a:r>
              <a:rPr lang="en-US" sz="2285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Establecer métricas de éxito.</a:t>
            </a:r>
          </a:p>
          <a:p>
            <a:pPr marL="0" lvl="0" indent="0" algn="l">
              <a:lnSpc>
                <a:spcPts val="4227"/>
              </a:lnSpc>
            </a:pPr>
            <a:r>
              <a:rPr lang="en-US" sz="2285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Garantizar entregables claros.</a:t>
            </a:r>
          </a:p>
        </p:txBody>
      </p:sp>
      <p:sp>
        <p:nvSpPr>
          <p:cNvPr id="8" name="AutoShape 8"/>
          <p:cNvSpPr/>
          <p:nvPr/>
        </p:nvSpPr>
        <p:spPr>
          <a:xfrm rot="5400000">
            <a:off x="6783951" y="3553290"/>
            <a:ext cx="7985953" cy="0"/>
          </a:xfrm>
          <a:prstGeom prst="line">
            <a:avLst/>
          </a:prstGeom>
          <a:ln w="95250" cap="flat">
            <a:solidFill>
              <a:srgbClr val="2D2D35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3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38716" y="2451159"/>
            <a:ext cx="7667477" cy="6205161"/>
            <a:chOff x="0" y="0"/>
            <a:chExt cx="3264708" cy="264207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264708" cy="2642074"/>
            </a:xfrm>
            <a:custGeom>
              <a:avLst/>
              <a:gdLst/>
              <a:ahLst/>
              <a:cxnLst/>
              <a:rect l="l" t="t" r="r" b="b"/>
              <a:pathLst>
                <a:path w="3264708" h="2642074">
                  <a:moveTo>
                    <a:pt x="0" y="0"/>
                  </a:moveTo>
                  <a:lnTo>
                    <a:pt x="3264708" y="0"/>
                  </a:lnTo>
                  <a:lnTo>
                    <a:pt x="3264708" y="2642074"/>
                  </a:lnTo>
                  <a:lnTo>
                    <a:pt x="0" y="2642074"/>
                  </a:lnTo>
                  <a:close/>
                </a:path>
              </a:pathLst>
            </a:custGeom>
            <a:solidFill>
              <a:srgbClr val="2D2D35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9281809" y="1928439"/>
            <a:ext cx="8625192" cy="7035741"/>
            <a:chOff x="0" y="0"/>
            <a:chExt cx="3264708" cy="229854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264708" cy="2298543"/>
            </a:xfrm>
            <a:custGeom>
              <a:avLst/>
              <a:gdLst/>
              <a:ahLst/>
              <a:cxnLst/>
              <a:rect l="l" t="t" r="r" b="b"/>
              <a:pathLst>
                <a:path w="3264708" h="2298543">
                  <a:moveTo>
                    <a:pt x="0" y="0"/>
                  </a:moveTo>
                  <a:lnTo>
                    <a:pt x="3264708" y="0"/>
                  </a:lnTo>
                  <a:lnTo>
                    <a:pt x="3264708" y="2298543"/>
                  </a:lnTo>
                  <a:lnTo>
                    <a:pt x="0" y="2298543"/>
                  </a:lnTo>
                  <a:close/>
                </a:path>
              </a:pathLst>
            </a:custGeom>
            <a:solidFill>
              <a:srgbClr val="2D2D35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2086709" y="2890163"/>
            <a:ext cx="6261698" cy="4514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567"/>
              </a:lnSpc>
            </a:pPr>
            <a:r>
              <a:rPr lang="en-US" sz="2997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Planificación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990221" y="2890163"/>
            <a:ext cx="6187604" cy="4514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567"/>
              </a:lnSpc>
            </a:pPr>
            <a:r>
              <a:rPr lang="en-US" sz="2997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Análisis de Requisitos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882457" y="3766643"/>
            <a:ext cx="6261698" cy="9041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464"/>
              </a:lnSpc>
            </a:pPr>
            <a:r>
              <a:rPr lang="en-US" sz="1798" b="1" dirty="0" err="1">
                <a:solidFill>
                  <a:srgbClr val="FFFFFF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Proceso</a:t>
            </a:r>
            <a:r>
              <a:rPr lang="en-US" sz="1798" b="1" dirty="0">
                <a:solidFill>
                  <a:srgbClr val="FFFFFF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 de </a:t>
            </a:r>
            <a:r>
              <a:rPr lang="en-US" sz="1798" b="1" dirty="0" err="1">
                <a:solidFill>
                  <a:srgbClr val="FFFFFF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recolección</a:t>
            </a:r>
            <a:r>
              <a:rPr lang="en-US" sz="1798" b="1" dirty="0">
                <a:solidFill>
                  <a:srgbClr val="FFFFFF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 y </a:t>
            </a:r>
            <a:r>
              <a:rPr lang="en-US" sz="1798" b="1" dirty="0" err="1">
                <a:solidFill>
                  <a:srgbClr val="FFFFFF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documentación</a:t>
            </a:r>
            <a:r>
              <a:rPr lang="en-US" sz="1798" b="1" dirty="0">
                <a:solidFill>
                  <a:srgbClr val="FFFFFF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 de las </a:t>
            </a:r>
            <a:r>
              <a:rPr lang="en-US" sz="1798" b="1" dirty="0" err="1">
                <a:solidFill>
                  <a:srgbClr val="FFFFFF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necesidades</a:t>
            </a:r>
            <a:r>
              <a:rPr lang="en-US" sz="1798" b="1" dirty="0">
                <a:solidFill>
                  <a:srgbClr val="FFFFFF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 del </a:t>
            </a:r>
            <a:r>
              <a:rPr lang="en-US" sz="1798" b="1" dirty="0" err="1">
                <a:solidFill>
                  <a:srgbClr val="FFFFFF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usuario</a:t>
            </a:r>
            <a:r>
              <a:rPr lang="en-US" sz="1798" b="1" dirty="0">
                <a:solidFill>
                  <a:srgbClr val="FFFFFF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. Se </a:t>
            </a:r>
            <a:r>
              <a:rPr lang="en-US" sz="1798" b="1" dirty="0" err="1">
                <a:solidFill>
                  <a:srgbClr val="FFFFFF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utiliza</a:t>
            </a:r>
            <a:r>
              <a:rPr lang="en-US" sz="1798" b="1" dirty="0">
                <a:solidFill>
                  <a:srgbClr val="FFFFFF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 </a:t>
            </a:r>
            <a:r>
              <a:rPr lang="en-US" sz="1798" b="1" dirty="0" err="1">
                <a:solidFill>
                  <a:srgbClr val="FFFFFF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el</a:t>
            </a:r>
            <a:r>
              <a:rPr lang="en-US" sz="1798" b="1" dirty="0">
                <a:solidFill>
                  <a:srgbClr val="FFFFFF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 </a:t>
            </a:r>
            <a:r>
              <a:rPr lang="en-US" sz="1798" b="1" dirty="0" err="1">
                <a:solidFill>
                  <a:srgbClr val="FFFFFF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estándar</a:t>
            </a:r>
            <a:r>
              <a:rPr lang="en-US" sz="1798" b="1" dirty="0">
                <a:solidFill>
                  <a:srgbClr val="FFFFFF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 IEEE 830 para </a:t>
            </a:r>
            <a:r>
              <a:rPr lang="en-US" sz="1798" b="1" dirty="0" err="1">
                <a:solidFill>
                  <a:srgbClr val="FFFFFF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especificaciones</a:t>
            </a:r>
            <a:r>
              <a:rPr lang="en-US" sz="1798" b="1" dirty="0">
                <a:solidFill>
                  <a:srgbClr val="FFFFFF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086709" y="3461843"/>
            <a:ext cx="6261698" cy="1208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464"/>
              </a:lnSpc>
            </a:pPr>
            <a:r>
              <a:rPr lang="en-US" sz="1798" b="1">
                <a:solidFill>
                  <a:srgbClr val="FFFFFF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Define el alcance del proyecto, los recursos necesarios y el cronograma de trabajo. Es fundamental para evitar desviaciones y sobrecostos.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463556" y="5552564"/>
            <a:ext cx="6261698" cy="24281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464"/>
              </a:lnSpc>
            </a:pPr>
            <a:r>
              <a:rPr lang="en-US" sz="1798" b="1" dirty="0" err="1">
                <a:solidFill>
                  <a:srgbClr val="FFFFFF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Técnicas</a:t>
            </a:r>
            <a:r>
              <a:rPr lang="en-US" sz="1798" b="1" dirty="0">
                <a:solidFill>
                  <a:srgbClr val="FFFFFF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 de </a:t>
            </a:r>
            <a:r>
              <a:rPr lang="en-US" sz="1798" b="1" dirty="0" err="1">
                <a:solidFill>
                  <a:srgbClr val="FFFFFF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recolección</a:t>
            </a:r>
            <a:r>
              <a:rPr lang="en-US" sz="1798" b="1" dirty="0">
                <a:solidFill>
                  <a:srgbClr val="FFFFFF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:</a:t>
            </a:r>
          </a:p>
          <a:p>
            <a:pPr marL="0" lvl="0" indent="0" algn="l">
              <a:lnSpc>
                <a:spcPts val="2464"/>
              </a:lnSpc>
            </a:pPr>
            <a:r>
              <a:rPr lang="en-US" sz="1798" b="1" dirty="0">
                <a:solidFill>
                  <a:srgbClr val="FFFFFF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• </a:t>
            </a:r>
            <a:r>
              <a:rPr lang="en-US" sz="1798" b="1" dirty="0" err="1">
                <a:solidFill>
                  <a:srgbClr val="FFFFFF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Entrevistas</a:t>
            </a:r>
            <a:r>
              <a:rPr lang="en-US" sz="1798" b="1" dirty="0">
                <a:solidFill>
                  <a:srgbClr val="FFFFFF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 con stakeholders</a:t>
            </a:r>
          </a:p>
          <a:p>
            <a:pPr marL="0" lvl="0" indent="0" algn="l">
              <a:lnSpc>
                <a:spcPts val="2464"/>
              </a:lnSpc>
            </a:pPr>
            <a:r>
              <a:rPr lang="en-US" sz="1798" b="1" dirty="0">
                <a:solidFill>
                  <a:srgbClr val="FFFFFF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• </a:t>
            </a:r>
            <a:r>
              <a:rPr lang="en-US" sz="1798" b="1" dirty="0" err="1">
                <a:solidFill>
                  <a:srgbClr val="FFFFFF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Cuestionarios</a:t>
            </a:r>
            <a:r>
              <a:rPr lang="en-US" sz="1798" b="1" dirty="0">
                <a:solidFill>
                  <a:srgbClr val="FFFFFF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 y </a:t>
            </a:r>
            <a:r>
              <a:rPr lang="en-US" sz="1798" b="1" dirty="0" err="1">
                <a:solidFill>
                  <a:srgbClr val="FFFFFF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encuestas</a:t>
            </a:r>
            <a:endParaRPr lang="en-US" sz="1798" b="1" dirty="0">
              <a:solidFill>
                <a:srgbClr val="FFFFFF"/>
              </a:solidFill>
              <a:latin typeface="Courier Prime Bold"/>
              <a:ea typeface="Courier Prime Bold"/>
              <a:cs typeface="Courier Prime Bold"/>
              <a:sym typeface="Courier Prime Bold"/>
            </a:endParaRPr>
          </a:p>
          <a:p>
            <a:pPr marL="0" lvl="0" indent="0" algn="l">
              <a:lnSpc>
                <a:spcPts val="2464"/>
              </a:lnSpc>
            </a:pPr>
            <a:r>
              <a:rPr lang="en-US" sz="1798" b="1" dirty="0">
                <a:solidFill>
                  <a:srgbClr val="FFFFFF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• </a:t>
            </a:r>
            <a:r>
              <a:rPr lang="en-US" sz="1798" b="1" dirty="0" err="1">
                <a:solidFill>
                  <a:srgbClr val="FFFFFF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Diagramas</a:t>
            </a:r>
            <a:r>
              <a:rPr lang="en-US" sz="1798" b="1" dirty="0">
                <a:solidFill>
                  <a:srgbClr val="FFFFFF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 de </a:t>
            </a:r>
            <a:r>
              <a:rPr lang="en-US" sz="1798" b="1" dirty="0" err="1">
                <a:solidFill>
                  <a:srgbClr val="FFFFFF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casos</a:t>
            </a:r>
            <a:r>
              <a:rPr lang="en-US" sz="1798" b="1" dirty="0">
                <a:solidFill>
                  <a:srgbClr val="FFFFFF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 de </a:t>
            </a:r>
            <a:r>
              <a:rPr lang="en-US" sz="1798" b="1" dirty="0" err="1">
                <a:solidFill>
                  <a:srgbClr val="FFFFFF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uso</a:t>
            </a:r>
            <a:endParaRPr lang="en-US" sz="1798" b="1" dirty="0">
              <a:solidFill>
                <a:srgbClr val="FFFFFF"/>
              </a:solidFill>
              <a:latin typeface="Courier Prime Bold"/>
              <a:ea typeface="Courier Prime Bold"/>
              <a:cs typeface="Courier Prime Bold"/>
              <a:sym typeface="Courier Prime Bold"/>
            </a:endParaRPr>
          </a:p>
          <a:p>
            <a:pPr marL="0" lvl="0" indent="0" algn="l">
              <a:lnSpc>
                <a:spcPts val="2464"/>
              </a:lnSpc>
            </a:pPr>
            <a:r>
              <a:rPr lang="en-US" sz="1798" b="1" dirty="0">
                <a:solidFill>
                  <a:srgbClr val="FFFFFF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• </a:t>
            </a:r>
            <a:r>
              <a:rPr lang="en-US" sz="1798" b="1" dirty="0" err="1">
                <a:solidFill>
                  <a:srgbClr val="FFFFFF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Observación</a:t>
            </a:r>
            <a:r>
              <a:rPr lang="en-US" sz="1798" b="1" dirty="0">
                <a:solidFill>
                  <a:srgbClr val="FFFFFF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 </a:t>
            </a:r>
            <a:r>
              <a:rPr lang="en-US" sz="1798" b="1" dirty="0" err="1">
                <a:solidFill>
                  <a:srgbClr val="FFFFFF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directa</a:t>
            </a:r>
            <a:endParaRPr lang="en-US" sz="1798" b="1" dirty="0">
              <a:solidFill>
                <a:srgbClr val="FFFFFF"/>
              </a:solidFill>
              <a:latin typeface="Courier Prime Bold"/>
              <a:ea typeface="Courier Prime Bold"/>
              <a:cs typeface="Courier Prime Bold"/>
              <a:sym typeface="Courier Prime Bold"/>
            </a:endParaRPr>
          </a:p>
          <a:p>
            <a:pPr marL="0" lvl="0" indent="0" algn="l">
              <a:lnSpc>
                <a:spcPts val="2464"/>
              </a:lnSpc>
            </a:pPr>
            <a:r>
              <a:rPr lang="en-US" sz="1798" b="1" dirty="0" err="1">
                <a:solidFill>
                  <a:srgbClr val="FFFFFF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Documento</a:t>
            </a:r>
            <a:r>
              <a:rPr lang="en-US" sz="1798" b="1" dirty="0">
                <a:solidFill>
                  <a:srgbClr val="FFFFFF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 </a:t>
            </a:r>
            <a:r>
              <a:rPr lang="en-US" sz="1798" b="1" dirty="0" err="1">
                <a:solidFill>
                  <a:srgbClr val="FFFFFF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resultante</a:t>
            </a:r>
            <a:r>
              <a:rPr lang="en-US" sz="1798" b="1" dirty="0">
                <a:solidFill>
                  <a:srgbClr val="FFFFFF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:</a:t>
            </a:r>
          </a:p>
          <a:p>
            <a:pPr marL="0" lvl="0" indent="0" algn="l">
              <a:lnSpc>
                <a:spcPts val="2464"/>
              </a:lnSpc>
            </a:pPr>
            <a:r>
              <a:rPr lang="en-US" sz="1798" b="1" dirty="0" err="1">
                <a:solidFill>
                  <a:srgbClr val="FFFFFF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Especificación</a:t>
            </a:r>
            <a:r>
              <a:rPr lang="en-US" sz="1798" b="1" dirty="0">
                <a:solidFill>
                  <a:srgbClr val="FFFFFF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 de </a:t>
            </a:r>
            <a:r>
              <a:rPr lang="en-US" sz="1798" b="1" dirty="0" err="1">
                <a:solidFill>
                  <a:srgbClr val="FFFFFF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Requisitos</a:t>
            </a:r>
            <a:r>
              <a:rPr lang="en-US" sz="1798" b="1" dirty="0">
                <a:solidFill>
                  <a:srgbClr val="FFFFFF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 de Software (SRS) </a:t>
            </a:r>
            <a:r>
              <a:rPr lang="en-US" sz="1798" b="1" dirty="0" err="1">
                <a:solidFill>
                  <a:srgbClr val="FFFFFF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según</a:t>
            </a:r>
            <a:r>
              <a:rPr lang="en-US" sz="1798" b="1" dirty="0">
                <a:solidFill>
                  <a:srgbClr val="FFFFFF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 IEEE 830.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086709" y="4874803"/>
            <a:ext cx="6261698" cy="2732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464"/>
              </a:lnSpc>
            </a:pPr>
            <a:r>
              <a:rPr lang="en-US" sz="1798" b="1">
                <a:solidFill>
                  <a:srgbClr val="FFFFFF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Actividades principales:</a:t>
            </a:r>
          </a:p>
          <a:p>
            <a:pPr marL="0" lvl="0" indent="0" algn="l">
              <a:lnSpc>
                <a:spcPts val="2464"/>
              </a:lnSpc>
            </a:pPr>
            <a:r>
              <a:rPr lang="en-US" sz="1798" b="1">
                <a:solidFill>
                  <a:srgbClr val="FFFFFF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• Estimación de tiempos y costos</a:t>
            </a:r>
          </a:p>
          <a:p>
            <a:pPr marL="0" lvl="0" indent="0" algn="l">
              <a:lnSpc>
                <a:spcPts val="2464"/>
              </a:lnSpc>
            </a:pPr>
            <a:r>
              <a:rPr lang="en-US" sz="1798" b="1">
                <a:solidFill>
                  <a:srgbClr val="FFFFFF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• Asignación de roles y responsabilidades</a:t>
            </a:r>
          </a:p>
          <a:p>
            <a:pPr marL="0" lvl="0" indent="0" algn="l">
              <a:lnSpc>
                <a:spcPts val="2464"/>
              </a:lnSpc>
            </a:pPr>
            <a:r>
              <a:rPr lang="en-US" sz="1798" b="1">
                <a:solidFill>
                  <a:srgbClr val="FFFFFF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• Identificación de riesgos potenciales</a:t>
            </a:r>
          </a:p>
          <a:p>
            <a:pPr marL="0" lvl="0" indent="0" algn="l">
              <a:lnSpc>
                <a:spcPts val="2464"/>
              </a:lnSpc>
            </a:pPr>
            <a:r>
              <a:rPr lang="en-US" sz="1798" b="1">
                <a:solidFill>
                  <a:srgbClr val="FFFFFF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• Definición de entregables</a:t>
            </a:r>
          </a:p>
          <a:p>
            <a:pPr marL="0" lvl="0" indent="0" algn="l">
              <a:lnSpc>
                <a:spcPts val="2464"/>
              </a:lnSpc>
            </a:pPr>
            <a:r>
              <a:rPr lang="en-US" sz="1798" b="1">
                <a:solidFill>
                  <a:srgbClr val="FFFFFF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Herramientas recomendadas:</a:t>
            </a:r>
          </a:p>
          <a:p>
            <a:pPr marL="0" lvl="0" indent="0" algn="l">
              <a:lnSpc>
                <a:spcPts val="2464"/>
              </a:lnSpc>
            </a:pPr>
            <a:r>
              <a:rPr lang="en-US" sz="1798" b="1">
                <a:solidFill>
                  <a:srgbClr val="FFFFFF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• Trello: gestión visual de tareas</a:t>
            </a:r>
          </a:p>
          <a:p>
            <a:pPr marL="0" lvl="0" indent="0" algn="l">
              <a:lnSpc>
                <a:spcPts val="2464"/>
              </a:lnSpc>
            </a:pPr>
            <a:r>
              <a:rPr lang="en-US" sz="1798" b="1">
                <a:solidFill>
                  <a:srgbClr val="FFFFFF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• Jira: seguimiento ágil de proyectos</a:t>
            </a:r>
          </a:p>
          <a:p>
            <a:pPr marL="0" lvl="0" indent="0" algn="l">
              <a:lnSpc>
                <a:spcPts val="2464"/>
              </a:lnSpc>
            </a:pPr>
            <a:r>
              <a:rPr lang="en-US" sz="1798" b="1">
                <a:solidFill>
                  <a:srgbClr val="FFFFFF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• MS Project: planificación detallada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8700" y="1038225"/>
            <a:ext cx="7031406" cy="8902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506"/>
              </a:lnSpc>
            </a:pPr>
            <a:r>
              <a:rPr lang="en-US" sz="3075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Fases Iniciales del Ciclo de Vida {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6557135" y="8665845"/>
            <a:ext cx="702165" cy="4520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3506"/>
              </a:lnSpc>
            </a:pPr>
            <a:r>
              <a:rPr lang="en-US" sz="3075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}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3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38716" y="2451159"/>
            <a:ext cx="7667477" cy="6205161"/>
            <a:chOff x="0" y="0"/>
            <a:chExt cx="3264708" cy="264207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264708" cy="2642074"/>
            </a:xfrm>
            <a:custGeom>
              <a:avLst/>
              <a:gdLst/>
              <a:ahLst/>
              <a:cxnLst/>
              <a:rect l="l" t="t" r="r" b="b"/>
              <a:pathLst>
                <a:path w="3264708" h="2642074">
                  <a:moveTo>
                    <a:pt x="0" y="0"/>
                  </a:moveTo>
                  <a:lnTo>
                    <a:pt x="3264708" y="0"/>
                  </a:lnTo>
                  <a:lnTo>
                    <a:pt x="3264708" y="2642074"/>
                  </a:lnTo>
                  <a:lnTo>
                    <a:pt x="0" y="2642074"/>
                  </a:lnTo>
                  <a:close/>
                </a:path>
              </a:pathLst>
            </a:custGeom>
            <a:solidFill>
              <a:srgbClr val="2D2D35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9281808" y="2451158"/>
            <a:ext cx="8548992" cy="7188141"/>
            <a:chOff x="0" y="0"/>
            <a:chExt cx="3264708" cy="229854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264708" cy="2298543"/>
            </a:xfrm>
            <a:custGeom>
              <a:avLst/>
              <a:gdLst/>
              <a:ahLst/>
              <a:cxnLst/>
              <a:rect l="l" t="t" r="r" b="b"/>
              <a:pathLst>
                <a:path w="3264708" h="2298543">
                  <a:moveTo>
                    <a:pt x="0" y="0"/>
                  </a:moveTo>
                  <a:lnTo>
                    <a:pt x="3264708" y="0"/>
                  </a:lnTo>
                  <a:lnTo>
                    <a:pt x="3264708" y="2298543"/>
                  </a:lnTo>
                  <a:lnTo>
                    <a:pt x="0" y="2298543"/>
                  </a:lnTo>
                  <a:close/>
                </a:path>
              </a:pathLst>
            </a:custGeom>
            <a:solidFill>
              <a:srgbClr val="2D2D35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2086709" y="2880638"/>
            <a:ext cx="6261698" cy="4033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19"/>
              </a:lnSpc>
            </a:pPr>
            <a:r>
              <a:rPr lang="en-US" sz="2621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Tipos de Pruebas.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990221" y="2880638"/>
            <a:ext cx="6187604" cy="4033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19"/>
              </a:lnSpc>
            </a:pPr>
            <a:r>
              <a:rPr lang="en-US" sz="2621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Herramientas de Automatización.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916127" y="4037141"/>
            <a:ext cx="6261698" cy="8313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44"/>
              </a:lnSpc>
            </a:pPr>
            <a:r>
              <a:rPr lang="en-US" sz="1638" b="1" dirty="0">
                <a:solidFill>
                  <a:srgbClr val="FFFFFF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La </a:t>
            </a:r>
            <a:r>
              <a:rPr lang="en-US" sz="1638" b="1" dirty="0" err="1">
                <a:solidFill>
                  <a:srgbClr val="FFFFFF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automatización</a:t>
            </a:r>
            <a:r>
              <a:rPr lang="en-US" sz="1638" b="1" dirty="0">
                <a:solidFill>
                  <a:srgbClr val="FFFFFF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 de </a:t>
            </a:r>
            <a:r>
              <a:rPr lang="en-US" sz="1638" b="1" dirty="0" err="1">
                <a:solidFill>
                  <a:srgbClr val="FFFFFF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pruebas</a:t>
            </a:r>
            <a:r>
              <a:rPr lang="en-US" sz="1638" b="1" dirty="0">
                <a:solidFill>
                  <a:srgbClr val="FFFFFF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 </a:t>
            </a:r>
            <a:r>
              <a:rPr lang="en-US" sz="1638" b="1" dirty="0" err="1">
                <a:solidFill>
                  <a:srgbClr val="FFFFFF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acelera</a:t>
            </a:r>
            <a:r>
              <a:rPr lang="en-US" sz="1638" b="1" dirty="0">
                <a:solidFill>
                  <a:srgbClr val="FFFFFF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 </a:t>
            </a:r>
            <a:r>
              <a:rPr lang="en-US" sz="1638" b="1" dirty="0" err="1">
                <a:solidFill>
                  <a:srgbClr val="FFFFFF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el</a:t>
            </a:r>
            <a:r>
              <a:rPr lang="en-US" sz="1638" b="1" dirty="0">
                <a:solidFill>
                  <a:srgbClr val="FFFFFF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 </a:t>
            </a:r>
            <a:r>
              <a:rPr lang="en-US" sz="1638" b="1" dirty="0" err="1">
                <a:solidFill>
                  <a:srgbClr val="FFFFFF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proceso</a:t>
            </a:r>
            <a:r>
              <a:rPr lang="en-US" sz="1638" b="1" dirty="0">
                <a:solidFill>
                  <a:srgbClr val="FFFFFF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 de </a:t>
            </a:r>
            <a:r>
              <a:rPr lang="en-US" sz="1638" b="1" dirty="0" err="1">
                <a:solidFill>
                  <a:srgbClr val="FFFFFF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verificación</a:t>
            </a:r>
            <a:r>
              <a:rPr lang="en-US" sz="1638" b="1" dirty="0">
                <a:solidFill>
                  <a:srgbClr val="FFFFFF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 y </a:t>
            </a:r>
            <a:r>
              <a:rPr lang="en-US" sz="1638" b="1" dirty="0" err="1">
                <a:solidFill>
                  <a:srgbClr val="FFFFFF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permite</a:t>
            </a:r>
            <a:r>
              <a:rPr lang="en-US" sz="1638" b="1" dirty="0">
                <a:solidFill>
                  <a:srgbClr val="FFFFFF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 </a:t>
            </a:r>
            <a:r>
              <a:rPr lang="en-US" sz="1638" b="1" dirty="0" err="1">
                <a:solidFill>
                  <a:srgbClr val="FFFFFF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ejecutar</a:t>
            </a:r>
            <a:r>
              <a:rPr lang="en-US" sz="1638" b="1" dirty="0">
                <a:solidFill>
                  <a:srgbClr val="FFFFFF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 </a:t>
            </a:r>
            <a:r>
              <a:rPr lang="en-US" sz="1638" b="1" dirty="0" err="1">
                <a:solidFill>
                  <a:srgbClr val="FFFFFF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pruebas</a:t>
            </a:r>
            <a:r>
              <a:rPr lang="en-US" sz="1638" b="1" dirty="0">
                <a:solidFill>
                  <a:srgbClr val="FFFFFF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 </a:t>
            </a:r>
            <a:r>
              <a:rPr lang="en-US" sz="1638" b="1" dirty="0" err="1">
                <a:solidFill>
                  <a:srgbClr val="FFFFFF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repetitivas</a:t>
            </a:r>
            <a:r>
              <a:rPr lang="en-US" sz="1638" b="1" dirty="0">
                <a:solidFill>
                  <a:srgbClr val="FFFFFF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 de </a:t>
            </a:r>
            <a:r>
              <a:rPr lang="en-US" sz="1638" b="1" dirty="0" err="1">
                <a:solidFill>
                  <a:srgbClr val="FFFFFF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manera</a:t>
            </a:r>
            <a:r>
              <a:rPr lang="en-US" sz="1638" b="1" dirty="0">
                <a:solidFill>
                  <a:srgbClr val="FFFFFF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 </a:t>
            </a:r>
            <a:r>
              <a:rPr lang="en-US" sz="1638" b="1" dirty="0" err="1">
                <a:solidFill>
                  <a:srgbClr val="FFFFFF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eficiente</a:t>
            </a:r>
            <a:r>
              <a:rPr lang="en-US" sz="1638" b="1" dirty="0">
                <a:solidFill>
                  <a:srgbClr val="FFFFFF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 y </a:t>
            </a:r>
            <a:r>
              <a:rPr lang="en-US" sz="1638" b="1" dirty="0" err="1">
                <a:solidFill>
                  <a:srgbClr val="FFFFFF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consistente</a:t>
            </a:r>
            <a:r>
              <a:rPr lang="en-US" sz="1638" b="1" dirty="0">
                <a:solidFill>
                  <a:srgbClr val="FFFFFF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086709" y="3452318"/>
            <a:ext cx="6261698" cy="11076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44"/>
              </a:lnSpc>
            </a:pPr>
            <a:r>
              <a:rPr lang="en-US" sz="1638" b="1">
                <a:solidFill>
                  <a:srgbClr val="FFFFFF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Las pruebas verifican que el software funcione correctamente antes de su implementación. Son esenciales para garantizar la calidad del producto final.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926760" y="5881597"/>
            <a:ext cx="6261698" cy="22125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44"/>
              </a:lnSpc>
            </a:pPr>
            <a:r>
              <a:rPr lang="en-US" sz="1638" b="1" dirty="0">
                <a:solidFill>
                  <a:srgbClr val="FFFFFF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• Selenium: </a:t>
            </a:r>
            <a:r>
              <a:rPr lang="en-US" sz="1638" b="1" dirty="0" err="1">
                <a:solidFill>
                  <a:srgbClr val="FFFFFF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automatización</a:t>
            </a:r>
            <a:r>
              <a:rPr lang="en-US" sz="1638" b="1" dirty="0">
                <a:solidFill>
                  <a:srgbClr val="FFFFFF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 de </a:t>
            </a:r>
            <a:r>
              <a:rPr lang="en-US" sz="1638" b="1" dirty="0" err="1">
                <a:solidFill>
                  <a:srgbClr val="FFFFFF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pruebas</a:t>
            </a:r>
            <a:r>
              <a:rPr lang="en-US" sz="1638" b="1" dirty="0">
                <a:solidFill>
                  <a:srgbClr val="FFFFFF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 web </a:t>
            </a:r>
            <a:r>
              <a:rPr lang="en-US" sz="1638" b="1" dirty="0" err="1">
                <a:solidFill>
                  <a:srgbClr val="FFFFFF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en</a:t>
            </a:r>
            <a:r>
              <a:rPr lang="en-US" sz="1638" b="1" dirty="0">
                <a:solidFill>
                  <a:srgbClr val="FFFFFF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 </a:t>
            </a:r>
            <a:r>
              <a:rPr lang="en-US" sz="1638" b="1" dirty="0" err="1">
                <a:solidFill>
                  <a:srgbClr val="FFFFFF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navegadores</a:t>
            </a:r>
            <a:r>
              <a:rPr lang="en-US" sz="1638" b="1" dirty="0">
                <a:solidFill>
                  <a:srgbClr val="FFFFFF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.</a:t>
            </a:r>
          </a:p>
          <a:p>
            <a:pPr marL="0" lvl="0" indent="0" algn="l">
              <a:lnSpc>
                <a:spcPts val="2244"/>
              </a:lnSpc>
            </a:pPr>
            <a:r>
              <a:rPr lang="en-US" sz="1638" b="1" dirty="0">
                <a:solidFill>
                  <a:srgbClr val="FFFFFF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• JUnit: framework para </a:t>
            </a:r>
            <a:r>
              <a:rPr lang="en-US" sz="1638" b="1" dirty="0" err="1">
                <a:solidFill>
                  <a:srgbClr val="FFFFFF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pruebas</a:t>
            </a:r>
            <a:r>
              <a:rPr lang="en-US" sz="1638" b="1" dirty="0">
                <a:solidFill>
                  <a:srgbClr val="FFFFFF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 </a:t>
            </a:r>
            <a:r>
              <a:rPr lang="en-US" sz="1638" b="1" dirty="0" err="1">
                <a:solidFill>
                  <a:srgbClr val="FFFFFF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unitarias</a:t>
            </a:r>
            <a:r>
              <a:rPr lang="en-US" sz="1638" b="1" dirty="0">
                <a:solidFill>
                  <a:srgbClr val="FFFFFF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 </a:t>
            </a:r>
            <a:r>
              <a:rPr lang="en-US" sz="1638" b="1" dirty="0" err="1">
                <a:solidFill>
                  <a:srgbClr val="FFFFFF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en</a:t>
            </a:r>
            <a:r>
              <a:rPr lang="en-US" sz="1638" b="1" dirty="0">
                <a:solidFill>
                  <a:srgbClr val="FFFFFF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 Java.</a:t>
            </a:r>
          </a:p>
          <a:p>
            <a:pPr marL="0" lvl="0" indent="0" algn="l">
              <a:lnSpc>
                <a:spcPts val="2244"/>
              </a:lnSpc>
            </a:pPr>
            <a:r>
              <a:rPr lang="en-US" sz="1638" b="1" dirty="0">
                <a:solidFill>
                  <a:srgbClr val="FFFFFF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• </a:t>
            </a:r>
            <a:r>
              <a:rPr lang="en-US" sz="1638" b="1" dirty="0" err="1">
                <a:solidFill>
                  <a:srgbClr val="FFFFFF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PyTest</a:t>
            </a:r>
            <a:r>
              <a:rPr lang="en-US" sz="1638" b="1" dirty="0">
                <a:solidFill>
                  <a:srgbClr val="FFFFFF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: </a:t>
            </a:r>
            <a:r>
              <a:rPr lang="en-US" sz="1638" b="1" dirty="0" err="1">
                <a:solidFill>
                  <a:srgbClr val="FFFFFF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herramienta</a:t>
            </a:r>
            <a:r>
              <a:rPr lang="en-US" sz="1638" b="1" dirty="0">
                <a:solidFill>
                  <a:srgbClr val="FFFFFF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 flexible para </a:t>
            </a:r>
            <a:r>
              <a:rPr lang="en-US" sz="1638" b="1" dirty="0" err="1">
                <a:solidFill>
                  <a:srgbClr val="FFFFFF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pruebas</a:t>
            </a:r>
            <a:r>
              <a:rPr lang="en-US" sz="1638" b="1" dirty="0">
                <a:solidFill>
                  <a:srgbClr val="FFFFFF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 </a:t>
            </a:r>
            <a:r>
              <a:rPr lang="en-US" sz="1638" b="1" dirty="0" err="1">
                <a:solidFill>
                  <a:srgbClr val="FFFFFF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en</a:t>
            </a:r>
            <a:r>
              <a:rPr lang="en-US" sz="1638" b="1" dirty="0">
                <a:solidFill>
                  <a:srgbClr val="FFFFFF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 Python.</a:t>
            </a:r>
          </a:p>
          <a:p>
            <a:pPr marL="0" lvl="0" indent="0" algn="l">
              <a:lnSpc>
                <a:spcPts val="2244"/>
              </a:lnSpc>
            </a:pPr>
            <a:r>
              <a:rPr lang="en-US" sz="1638" b="1" dirty="0">
                <a:solidFill>
                  <a:srgbClr val="FFFFFF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• Cypress: </a:t>
            </a:r>
            <a:r>
              <a:rPr lang="en-US" sz="1638" b="1" dirty="0" err="1">
                <a:solidFill>
                  <a:srgbClr val="FFFFFF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pruebas</a:t>
            </a:r>
            <a:r>
              <a:rPr lang="en-US" sz="1638" b="1" dirty="0">
                <a:solidFill>
                  <a:srgbClr val="FFFFFF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 de frontend </a:t>
            </a:r>
            <a:r>
              <a:rPr lang="en-US" sz="1638" b="1" dirty="0" err="1">
                <a:solidFill>
                  <a:srgbClr val="FFFFFF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modernas</a:t>
            </a:r>
            <a:r>
              <a:rPr lang="en-US" sz="1638" b="1" dirty="0">
                <a:solidFill>
                  <a:srgbClr val="FFFFFF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 y </a:t>
            </a:r>
            <a:r>
              <a:rPr lang="en-US" sz="1638" b="1" dirty="0" err="1">
                <a:solidFill>
                  <a:srgbClr val="FFFFFF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rápidas</a:t>
            </a:r>
            <a:r>
              <a:rPr lang="en-US" sz="1638" b="1" dirty="0">
                <a:solidFill>
                  <a:srgbClr val="FFFFFF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.</a:t>
            </a:r>
          </a:p>
          <a:p>
            <a:pPr marL="0" lvl="0" indent="0" algn="l">
              <a:lnSpc>
                <a:spcPts val="2244"/>
              </a:lnSpc>
            </a:pPr>
            <a:r>
              <a:rPr lang="en-US" sz="1638" b="1" dirty="0" err="1">
                <a:solidFill>
                  <a:srgbClr val="FFFFFF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Beneficio</a:t>
            </a:r>
            <a:r>
              <a:rPr lang="en-US" sz="1638" b="1" dirty="0">
                <a:solidFill>
                  <a:srgbClr val="FFFFFF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 clave: </a:t>
            </a:r>
            <a:r>
              <a:rPr lang="en-US" sz="1638" b="1" dirty="0" err="1">
                <a:solidFill>
                  <a:srgbClr val="FFFFFF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detección</a:t>
            </a:r>
            <a:r>
              <a:rPr lang="en-US" sz="1638" b="1" dirty="0">
                <a:solidFill>
                  <a:srgbClr val="FFFFFF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 </a:t>
            </a:r>
            <a:r>
              <a:rPr lang="en-US" sz="1638" b="1" dirty="0" err="1">
                <a:solidFill>
                  <a:srgbClr val="FFFFFF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temprana</a:t>
            </a:r>
            <a:r>
              <a:rPr lang="en-US" sz="1638" b="1" dirty="0">
                <a:solidFill>
                  <a:srgbClr val="FFFFFF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 de </a:t>
            </a:r>
            <a:r>
              <a:rPr lang="en-US" sz="1638" b="1" dirty="0" err="1">
                <a:solidFill>
                  <a:srgbClr val="FFFFFF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errores</a:t>
            </a:r>
            <a:r>
              <a:rPr lang="en-US" sz="1638" b="1" dirty="0">
                <a:solidFill>
                  <a:srgbClr val="FFFFFF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, </a:t>
            </a:r>
            <a:r>
              <a:rPr lang="en-US" sz="1638" b="1" dirty="0" err="1">
                <a:solidFill>
                  <a:srgbClr val="FFFFFF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reduciendo</a:t>
            </a:r>
            <a:r>
              <a:rPr lang="en-US" sz="1638" b="1" dirty="0">
                <a:solidFill>
                  <a:srgbClr val="FFFFFF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 </a:t>
            </a:r>
            <a:r>
              <a:rPr lang="en-US" sz="1638" b="1" dirty="0" err="1">
                <a:solidFill>
                  <a:srgbClr val="FFFFFF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costos</a:t>
            </a:r>
            <a:r>
              <a:rPr lang="en-US" sz="1638" b="1" dirty="0">
                <a:solidFill>
                  <a:srgbClr val="FFFFFF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 de </a:t>
            </a:r>
            <a:r>
              <a:rPr lang="en-US" sz="1638" b="1" dirty="0" err="1">
                <a:solidFill>
                  <a:srgbClr val="FFFFFF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corrección</a:t>
            </a:r>
            <a:r>
              <a:rPr lang="en-US" sz="1638" b="1" dirty="0">
                <a:solidFill>
                  <a:srgbClr val="FFFFFF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086709" y="4865278"/>
            <a:ext cx="6261698" cy="22125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44"/>
              </a:lnSpc>
            </a:pPr>
            <a:r>
              <a:rPr lang="en-US" sz="1638" b="1">
                <a:solidFill>
                  <a:srgbClr val="FFFFFF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• Pruebas Unitarias: verifican componentes individuales del código de forma aislada.</a:t>
            </a:r>
          </a:p>
          <a:p>
            <a:pPr marL="0" lvl="0" indent="0" algn="l">
              <a:lnSpc>
                <a:spcPts val="2244"/>
              </a:lnSpc>
            </a:pPr>
            <a:r>
              <a:rPr lang="en-US" sz="1638" b="1">
                <a:solidFill>
                  <a:srgbClr val="FFFFFF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• Pruebas de Integración: comprueban la comunicación entre módulos conectados.</a:t>
            </a:r>
          </a:p>
          <a:p>
            <a:pPr marL="0" lvl="0" indent="0" algn="l">
              <a:lnSpc>
                <a:spcPts val="2244"/>
              </a:lnSpc>
            </a:pPr>
            <a:r>
              <a:rPr lang="en-US" sz="1638" b="1">
                <a:solidFill>
                  <a:srgbClr val="FFFFFF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• Pruebas de Sistema: evalúan el software completo en un entorno real.</a:t>
            </a:r>
          </a:p>
          <a:p>
            <a:pPr marL="0" lvl="0" indent="0" algn="l">
              <a:lnSpc>
                <a:spcPts val="2244"/>
              </a:lnSpc>
            </a:pPr>
            <a:r>
              <a:rPr lang="en-US" sz="1638" b="1">
                <a:solidFill>
                  <a:srgbClr val="FFFFFF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• Pruebas de Aceptación: validan que el sistema cumple los requisitos del usuario final.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8700" y="1047750"/>
            <a:ext cx="7031406" cy="5829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556"/>
              </a:lnSpc>
            </a:pPr>
            <a:r>
              <a:rPr lang="en-US" sz="3997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Pruebas de Software {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6557135" y="8675370"/>
            <a:ext cx="702165" cy="5829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4556"/>
              </a:lnSpc>
            </a:pPr>
            <a:r>
              <a:rPr lang="en-US" sz="3997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}</a:t>
            </a:r>
          </a:p>
        </p:txBody>
      </p:sp>
    </p:spTree>
  </p:cSld>
  <p:clrMapOvr>
    <a:masterClrMapping/>
  </p:clrMapOvr>
  <p:transition spd="slow">
    <p:randomBar dir="vert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3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1047750"/>
            <a:ext cx="7031406" cy="5829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556"/>
              </a:lnSpc>
            </a:pPr>
            <a:r>
              <a:rPr lang="en-US" sz="3997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Datos relevantes {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6557135" y="8675370"/>
            <a:ext cx="702165" cy="5829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4556"/>
              </a:lnSpc>
            </a:pPr>
            <a:r>
              <a:rPr lang="en-US" sz="3997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}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1177271" y="1426873"/>
            <a:ext cx="3896870" cy="8541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995"/>
              </a:lnSpc>
            </a:pPr>
            <a:r>
              <a:rPr lang="en-US" sz="4996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95%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177271" y="2222946"/>
            <a:ext cx="4884373" cy="2322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898"/>
              </a:lnSpc>
            </a:pPr>
            <a:r>
              <a:rPr lang="en-US" sz="1355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Tasa de éxito en implementaciones planificadas.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177271" y="4661971"/>
            <a:ext cx="4670815" cy="8541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995"/>
              </a:lnSpc>
            </a:pPr>
            <a:r>
              <a:rPr lang="en-US" sz="4996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60%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177271" y="5418256"/>
            <a:ext cx="4884373" cy="4703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898"/>
              </a:lnSpc>
            </a:pPr>
            <a:r>
              <a:rPr lang="en-US" sz="1355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Del ciclo de vida se dedica a mantenimiento del software.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177271" y="3064316"/>
            <a:ext cx="4317840" cy="8541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995"/>
              </a:lnSpc>
            </a:pPr>
            <a:r>
              <a:rPr lang="en-US" sz="4996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3 tipos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177271" y="3820601"/>
            <a:ext cx="4884373" cy="4703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898"/>
              </a:lnSpc>
            </a:pPr>
            <a:r>
              <a:rPr lang="en-US" sz="1355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De mantenimiento: correctivo, preventivo y evolutivo.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177271" y="6259626"/>
            <a:ext cx="4317840" cy="8541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995"/>
              </a:lnSpc>
            </a:pPr>
            <a:r>
              <a:rPr lang="en-US" sz="4996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40%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177271" y="7015911"/>
            <a:ext cx="4884373" cy="2322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898"/>
              </a:lnSpc>
            </a:pPr>
            <a:r>
              <a:rPr lang="en-US" sz="1355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Reducción de errores con capacitación adecuada.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177271" y="7857281"/>
            <a:ext cx="4317840" cy="8541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995"/>
              </a:lnSpc>
            </a:pPr>
            <a:r>
              <a:rPr lang="en-US" sz="4996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24/7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177271" y="8613566"/>
            <a:ext cx="4884373" cy="2322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898"/>
              </a:lnSpc>
            </a:pPr>
            <a:r>
              <a:rPr lang="en-US" sz="1355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Monitoreo continuo en sistemas críticos.</a:t>
            </a:r>
          </a:p>
        </p:txBody>
      </p:sp>
      <p:sp>
        <p:nvSpPr>
          <p:cNvPr id="14" name="AutoShape 14"/>
          <p:cNvSpPr/>
          <p:nvPr/>
        </p:nvSpPr>
        <p:spPr>
          <a:xfrm rot="5400000">
            <a:off x="5951747" y="4385494"/>
            <a:ext cx="9650362" cy="0"/>
          </a:xfrm>
          <a:prstGeom prst="line">
            <a:avLst/>
          </a:prstGeom>
          <a:ln w="95250" cap="flat">
            <a:solidFill>
              <a:srgbClr val="2D2D35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5" name="TextBox 15"/>
          <p:cNvSpPr txBox="1"/>
          <p:nvPr/>
        </p:nvSpPr>
        <p:spPr>
          <a:xfrm>
            <a:off x="1180111" y="2942463"/>
            <a:ext cx="6988679" cy="4868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458"/>
              </a:lnSpc>
            </a:pPr>
            <a:r>
              <a:rPr lang="en-US" sz="1807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La implementación incluye tres actividades clave: instalación del software en el entorno de producción, migración de datos desde sistemas anteriores, y capacitación de usuarios finales para garantizar el uso correcto del sistema.</a:t>
            </a:r>
          </a:p>
          <a:p>
            <a:pPr marL="0" lvl="0" indent="0" algn="l">
              <a:lnSpc>
                <a:spcPts val="2458"/>
              </a:lnSpc>
            </a:pPr>
            <a:r>
              <a:rPr lang="en-US" sz="1807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El mantenimiento se divide en tres tipos esenciales: Correctivo (solución de bugs y errores reportados), Preventivo (optimización del rendimiento y actualizaciones de seguridad), y Evolutivo (incorporación de nuevas funcionalidades según las necesidades del usuario).</a:t>
            </a:r>
          </a:p>
          <a:p>
            <a:pPr marL="0" lvl="0" indent="0" algn="l">
              <a:lnSpc>
                <a:spcPts val="2458"/>
              </a:lnSpc>
            </a:pPr>
            <a:r>
              <a:rPr lang="en-US" sz="1807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Ejemplos reales: Las actualizaciones mensuales de Windows representan mantenimiento preventivo y correctivo. Las mejoras constantes en aplicaciones móviles como WhatsApp o Instagram son ejemplos de mantenimiento evolutivo.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prestige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3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1047750"/>
            <a:ext cx="7031406" cy="11544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556"/>
              </a:lnSpc>
            </a:pPr>
            <a:r>
              <a:rPr lang="en-US" sz="3997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Estándares importantes {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6557135" y="8675370"/>
            <a:ext cx="702165" cy="5829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4556"/>
              </a:lnSpc>
            </a:pPr>
            <a:r>
              <a:rPr lang="en-US" sz="3997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}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413994" y="3542291"/>
            <a:ext cx="3159843" cy="16278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217"/>
              </a:lnSpc>
            </a:pPr>
            <a:r>
              <a:rPr lang="en-US" sz="2925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IEEE 830: Especificación de requisitos de software.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413994" y="6845360"/>
            <a:ext cx="3159843" cy="20278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217"/>
              </a:lnSpc>
            </a:pPr>
            <a:r>
              <a:rPr lang="en-US" sz="2925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W3C: Estándares para tecnologías web.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400508" y="3542291"/>
            <a:ext cx="3159843" cy="16278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217"/>
              </a:lnSpc>
            </a:pPr>
            <a:r>
              <a:rPr lang="en-US" sz="2925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IEEE 1016: Documentación del diseño de software.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400508" y="6845360"/>
            <a:ext cx="3159843" cy="16278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217"/>
              </a:lnSpc>
            </a:pPr>
            <a:r>
              <a:rPr lang="en-US" sz="2925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WCAG 2.1: Pautas de accesibilidad web.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474996" y="3542291"/>
            <a:ext cx="3159843" cy="12277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217"/>
              </a:lnSpc>
            </a:pPr>
            <a:r>
              <a:rPr lang="en-US" sz="2925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ISO 9001: Gestión de calidad.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474996" y="6845360"/>
            <a:ext cx="3159843" cy="12277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217"/>
              </a:lnSpc>
            </a:pPr>
            <a:r>
              <a:rPr lang="en-US" sz="2925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CMMI: Modelo de madurez de procesos.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3714163" y="3542291"/>
            <a:ext cx="3159843" cy="16278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217"/>
              </a:lnSpc>
            </a:pPr>
            <a:r>
              <a:rPr lang="en-US" sz="2925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ISO 27001: Seguridad de la información.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714163" y="6845360"/>
            <a:ext cx="3159843" cy="12277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217"/>
              </a:lnSpc>
            </a:pPr>
            <a:r>
              <a:rPr lang="en-US" sz="2925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ITIL: Gestión de servicios de TI.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63407" y="2496843"/>
            <a:ext cx="1167193" cy="837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274"/>
              </a:lnSpc>
            </a:pPr>
            <a:r>
              <a:rPr lang="en-US" sz="3997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01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63407" y="5817422"/>
            <a:ext cx="1167193" cy="837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274"/>
              </a:lnSpc>
            </a:pPr>
            <a:r>
              <a:rPr lang="en-US" sz="3997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05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197572" y="2496843"/>
            <a:ext cx="1167193" cy="837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274"/>
              </a:lnSpc>
            </a:pPr>
            <a:r>
              <a:rPr lang="en-US" sz="3997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197572" y="5817422"/>
            <a:ext cx="1167193" cy="837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274"/>
              </a:lnSpc>
            </a:pPr>
            <a:r>
              <a:rPr lang="en-US" sz="3997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06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330249" y="2496843"/>
            <a:ext cx="1167193" cy="837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274"/>
              </a:lnSpc>
            </a:pPr>
            <a:r>
              <a:rPr lang="en-US" sz="3997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03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330249" y="5817422"/>
            <a:ext cx="1167193" cy="837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274"/>
              </a:lnSpc>
            </a:pPr>
            <a:r>
              <a:rPr lang="en-US" sz="3997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07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3589253" y="2496843"/>
            <a:ext cx="1167193" cy="837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274"/>
              </a:lnSpc>
            </a:pPr>
            <a:r>
              <a:rPr lang="en-US" sz="3997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04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3589253" y="5817422"/>
            <a:ext cx="1167193" cy="837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274"/>
              </a:lnSpc>
            </a:pPr>
            <a:r>
              <a:rPr lang="en-US" sz="3997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08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400">
        <p14:honeycomb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3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70578" y="-102870"/>
            <a:ext cx="9314578" cy="10389870"/>
            <a:chOff x="0" y="0"/>
            <a:chExt cx="3397983" cy="379025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397983" cy="3790253"/>
            </a:xfrm>
            <a:custGeom>
              <a:avLst/>
              <a:gdLst/>
              <a:ahLst/>
              <a:cxnLst/>
              <a:rect l="l" t="t" r="r" b="b"/>
              <a:pathLst>
                <a:path w="3397983" h="3790253">
                  <a:moveTo>
                    <a:pt x="0" y="0"/>
                  </a:moveTo>
                  <a:lnTo>
                    <a:pt x="3397983" y="0"/>
                  </a:lnTo>
                  <a:lnTo>
                    <a:pt x="3397983" y="3790253"/>
                  </a:lnTo>
                  <a:lnTo>
                    <a:pt x="0" y="3790253"/>
                  </a:lnTo>
                  <a:close/>
                </a:path>
              </a:pathLst>
            </a:custGeom>
            <a:solidFill>
              <a:srgbClr val="2D2D35"/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1028700" y="1047750"/>
            <a:ext cx="7031406" cy="5829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556"/>
              </a:lnSpc>
            </a:pPr>
            <a:r>
              <a:rPr lang="en-US" sz="3997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Documentación {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6557135" y="8675370"/>
            <a:ext cx="702165" cy="5829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4556"/>
              </a:lnSpc>
            </a:pPr>
            <a:r>
              <a:rPr lang="en-US" sz="3997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}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80111" y="2923413"/>
            <a:ext cx="6988679" cy="49140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244"/>
              </a:lnSpc>
            </a:pPr>
            <a:r>
              <a:rPr lang="en-US" sz="2385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La documentación es fundamental en cada fase del ciclo de vida del software. Permite mantener un registro detallado del proyecto, facilita la comunicación entre equipos y asegura la transferencia de conocimiento.</a:t>
            </a:r>
          </a:p>
          <a:p>
            <a:pPr marL="0" lvl="0" indent="0" algn="l">
              <a:lnSpc>
                <a:spcPts val="3244"/>
              </a:lnSpc>
            </a:pPr>
            <a:r>
              <a:rPr lang="en-US" sz="2385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Una buena documentación reduce errores, acelera la incorporación de nuevos miembros al equipo y garantiza que el software pueda mantenerse y actualizarse eficientemente a largo plazo.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824553" y="3134287"/>
            <a:ext cx="5235400" cy="49370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413"/>
              </a:lnSpc>
            </a:pPr>
            <a:r>
              <a:rPr lang="en-US" sz="2385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Manual de usuario.</a:t>
            </a:r>
          </a:p>
          <a:p>
            <a:pPr marL="0" lvl="0" indent="0" algn="l">
              <a:lnSpc>
                <a:spcPts val="4413"/>
              </a:lnSpc>
            </a:pPr>
            <a:r>
              <a:rPr lang="en-US" sz="2385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Guía técnica.</a:t>
            </a:r>
          </a:p>
          <a:p>
            <a:pPr marL="0" lvl="0" indent="0" algn="l">
              <a:lnSpc>
                <a:spcPts val="4413"/>
              </a:lnSpc>
            </a:pPr>
            <a:r>
              <a:rPr lang="en-US" sz="2385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Reportes de pruebas.</a:t>
            </a:r>
          </a:p>
          <a:p>
            <a:pPr marL="0" lvl="0" indent="0" algn="l">
              <a:lnSpc>
                <a:spcPts val="4413"/>
              </a:lnSpc>
            </a:pPr>
            <a:r>
              <a:rPr lang="en-US" sz="2385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Diagramas UML.</a:t>
            </a:r>
          </a:p>
          <a:p>
            <a:pPr marL="0" lvl="0" indent="0" algn="l">
              <a:lnSpc>
                <a:spcPts val="4413"/>
              </a:lnSpc>
            </a:pPr>
            <a:r>
              <a:rPr lang="en-US" sz="2385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Especificación de requisitos.</a:t>
            </a:r>
          </a:p>
          <a:p>
            <a:pPr marL="0" lvl="0" indent="0" algn="l">
              <a:lnSpc>
                <a:spcPts val="4413"/>
              </a:lnSpc>
            </a:pPr>
            <a:r>
              <a:rPr lang="en-US" sz="2385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Plan de proyecto.</a:t>
            </a:r>
          </a:p>
          <a:p>
            <a:pPr marL="0" lvl="0" indent="0" algn="l">
              <a:lnSpc>
                <a:spcPts val="4413"/>
              </a:lnSpc>
            </a:pPr>
            <a:r>
              <a:rPr lang="en-US" sz="2385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Actas de reuniones.</a:t>
            </a:r>
          </a:p>
          <a:p>
            <a:pPr marL="0" lvl="0" indent="0" algn="l">
              <a:lnSpc>
                <a:spcPts val="4413"/>
              </a:lnSpc>
            </a:pPr>
            <a:r>
              <a:rPr lang="en-US" sz="2385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Documentación de API.</a:t>
            </a:r>
          </a:p>
        </p:txBody>
      </p:sp>
      <p:sp>
        <p:nvSpPr>
          <p:cNvPr id="8" name="AutoShape 8"/>
          <p:cNvSpPr/>
          <p:nvPr/>
        </p:nvSpPr>
        <p:spPr>
          <a:xfrm rot="5400000">
            <a:off x="6783951" y="3553290"/>
            <a:ext cx="7985953" cy="0"/>
          </a:xfrm>
          <a:prstGeom prst="line">
            <a:avLst/>
          </a:prstGeom>
          <a:ln w="95250" cap="flat">
            <a:solidFill>
              <a:srgbClr val="2D2D35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ripple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3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2784622"/>
            <a:ext cx="3208462" cy="4562414"/>
            <a:chOff x="0" y="0"/>
            <a:chExt cx="1330715" cy="189226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30715" cy="1892268"/>
            </a:xfrm>
            <a:custGeom>
              <a:avLst/>
              <a:gdLst/>
              <a:ahLst/>
              <a:cxnLst/>
              <a:rect l="l" t="t" r="r" b="b"/>
              <a:pathLst>
                <a:path w="1330715" h="1892268">
                  <a:moveTo>
                    <a:pt x="0" y="0"/>
                  </a:moveTo>
                  <a:lnTo>
                    <a:pt x="1330715" y="0"/>
                  </a:lnTo>
                  <a:lnTo>
                    <a:pt x="1330715" y="1892268"/>
                  </a:lnTo>
                  <a:lnTo>
                    <a:pt x="0" y="1892268"/>
                  </a:lnTo>
                  <a:close/>
                </a:path>
              </a:pathLst>
            </a:custGeom>
            <a:solidFill>
              <a:srgbClr val="2D2D35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7539769" y="2784622"/>
            <a:ext cx="3208462" cy="4157788"/>
            <a:chOff x="0" y="0"/>
            <a:chExt cx="1330715" cy="172444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330715" cy="1724449"/>
            </a:xfrm>
            <a:custGeom>
              <a:avLst/>
              <a:gdLst/>
              <a:ahLst/>
              <a:cxnLst/>
              <a:rect l="l" t="t" r="r" b="b"/>
              <a:pathLst>
                <a:path w="1330715" h="1724449">
                  <a:moveTo>
                    <a:pt x="0" y="0"/>
                  </a:moveTo>
                  <a:lnTo>
                    <a:pt x="1330715" y="0"/>
                  </a:lnTo>
                  <a:lnTo>
                    <a:pt x="1330715" y="1724449"/>
                  </a:lnTo>
                  <a:lnTo>
                    <a:pt x="0" y="1724449"/>
                  </a:lnTo>
                  <a:close/>
                </a:path>
              </a:pathLst>
            </a:custGeom>
            <a:solidFill>
              <a:srgbClr val="2D2D35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4050838" y="2784622"/>
            <a:ext cx="3208462" cy="5367854"/>
            <a:chOff x="0" y="0"/>
            <a:chExt cx="1330715" cy="222632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330715" cy="2226326"/>
            </a:xfrm>
            <a:custGeom>
              <a:avLst/>
              <a:gdLst/>
              <a:ahLst/>
              <a:cxnLst/>
              <a:rect l="l" t="t" r="r" b="b"/>
              <a:pathLst>
                <a:path w="1330715" h="2226326">
                  <a:moveTo>
                    <a:pt x="0" y="0"/>
                  </a:moveTo>
                  <a:lnTo>
                    <a:pt x="1330715" y="0"/>
                  </a:lnTo>
                  <a:lnTo>
                    <a:pt x="1330715" y="2226326"/>
                  </a:lnTo>
                  <a:lnTo>
                    <a:pt x="0" y="2226326"/>
                  </a:lnTo>
                  <a:close/>
                </a:path>
              </a:pathLst>
            </a:custGeom>
            <a:solidFill>
              <a:srgbClr val="2D2D35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4284235" y="2784622"/>
            <a:ext cx="3208462" cy="5367854"/>
            <a:chOff x="0" y="0"/>
            <a:chExt cx="1330715" cy="222632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330715" cy="2226326"/>
            </a:xfrm>
            <a:custGeom>
              <a:avLst/>
              <a:gdLst/>
              <a:ahLst/>
              <a:cxnLst/>
              <a:rect l="l" t="t" r="r" b="b"/>
              <a:pathLst>
                <a:path w="1330715" h="2226326">
                  <a:moveTo>
                    <a:pt x="0" y="0"/>
                  </a:moveTo>
                  <a:lnTo>
                    <a:pt x="1330715" y="0"/>
                  </a:lnTo>
                  <a:lnTo>
                    <a:pt x="1330715" y="2226326"/>
                  </a:lnTo>
                  <a:lnTo>
                    <a:pt x="0" y="2226326"/>
                  </a:lnTo>
                  <a:close/>
                </a:path>
              </a:pathLst>
            </a:custGeom>
            <a:solidFill>
              <a:srgbClr val="2D2D35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10795304" y="2784622"/>
            <a:ext cx="3208462" cy="4838639"/>
            <a:chOff x="0" y="0"/>
            <a:chExt cx="1330715" cy="2006833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330715" cy="2006833"/>
            </a:xfrm>
            <a:custGeom>
              <a:avLst/>
              <a:gdLst/>
              <a:ahLst/>
              <a:cxnLst/>
              <a:rect l="l" t="t" r="r" b="b"/>
              <a:pathLst>
                <a:path w="1330715" h="2006833">
                  <a:moveTo>
                    <a:pt x="0" y="0"/>
                  </a:moveTo>
                  <a:lnTo>
                    <a:pt x="1330715" y="0"/>
                  </a:lnTo>
                  <a:lnTo>
                    <a:pt x="1330715" y="2006833"/>
                  </a:lnTo>
                  <a:lnTo>
                    <a:pt x="0" y="2006833"/>
                  </a:lnTo>
                  <a:close/>
                </a:path>
              </a:pathLst>
            </a:custGeom>
            <a:solidFill>
              <a:srgbClr val="2D2D35"/>
            </a:solidFill>
          </p:spPr>
        </p:sp>
      </p:grpSp>
      <p:sp>
        <p:nvSpPr>
          <p:cNvPr id="12" name="TextBox 12"/>
          <p:cNvSpPr txBox="1"/>
          <p:nvPr/>
        </p:nvSpPr>
        <p:spPr>
          <a:xfrm>
            <a:off x="1331185" y="3370468"/>
            <a:ext cx="2598314" cy="3345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58"/>
              </a:lnSpc>
            </a:pPr>
            <a:r>
              <a:rPr lang="en-US" sz="2014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FASE 1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33020" y="2832247"/>
            <a:ext cx="1649655" cy="2792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84"/>
              </a:lnSpc>
            </a:pPr>
            <a:r>
              <a:rPr lang="en-US" sz="1798">
                <a:solidFill>
                  <a:srgbClr val="20232A"/>
                </a:solidFill>
                <a:latin typeface="Courier Prime"/>
                <a:ea typeface="Courier Prime"/>
                <a:cs typeface="Courier Prime"/>
                <a:sym typeface="Courier Prime"/>
              </a:rPr>
              <a:t>SEMANA 1-2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331185" y="4034876"/>
            <a:ext cx="2598314" cy="30359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38"/>
              </a:lnSpc>
            </a:pPr>
            <a:r>
              <a:rPr lang="en-US" sz="1598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Planificación: Definir alcance del sistema, identificar stakeholders, establecer presupuesto y cronograma. Objetivo: gestionar entrada/salida de productos y alertas de stock.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844843" y="4034876"/>
            <a:ext cx="2598314" cy="24835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38"/>
              </a:lnSpc>
            </a:pPr>
            <a:r>
              <a:rPr lang="en-US" sz="1598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Diseño (2 sem): Crear diagramas UML, diseñar base de datos para productos y movimientos, definir arquitectura del sistema y diseño de interfaces de usuario.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589309" y="4034876"/>
            <a:ext cx="2598314" cy="35884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38"/>
              </a:lnSpc>
            </a:pPr>
            <a:r>
              <a:rPr lang="en-US" sz="1598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Análisis de Requisitos (3 sem): Entrevistar usuarios del almacén, documentar flujos de entrada de productos, definir reglas de negocio para alertas de stock bajo, crear documento IEEE 830 con requisitos funcionales y no funcionales.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4366621" y="4034876"/>
            <a:ext cx="2598314" cy="30359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38"/>
              </a:lnSpc>
            </a:pPr>
            <a:r>
              <a:rPr lang="en-US" sz="1598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Pruebas e Implementación (3 sem): Ejecutar pruebas unitarias y de integración, capacitar al personal del almacén, migrar datos existentes, poner en producción y dar soporte inicial al usuario.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1100378" y="4034876"/>
            <a:ext cx="2598314" cy="27597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38"/>
              </a:lnSpc>
            </a:pPr>
            <a:r>
              <a:rPr lang="en-US" sz="1598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Desarrollo (6 sem): Programar módulos de gestión de stock, implementar sistema de alertas automáticas, crear funcionalidad de reportes, integrar con lectores de código de barras.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589309" y="3370468"/>
            <a:ext cx="2598314" cy="3345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58"/>
              </a:lnSpc>
            </a:pPr>
            <a:r>
              <a:rPr lang="en-US" sz="2014">
                <a:solidFill>
                  <a:srgbClr val="CB6CE6"/>
                </a:solidFill>
                <a:latin typeface="Courier Prime"/>
                <a:ea typeface="Courier Prime"/>
                <a:cs typeface="Courier Prime"/>
                <a:sym typeface="Courier Prime"/>
              </a:rPr>
              <a:t>FASE 2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844843" y="3370468"/>
            <a:ext cx="2598314" cy="3345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58"/>
              </a:lnSpc>
            </a:pPr>
            <a:r>
              <a:rPr lang="en-US" sz="2014">
                <a:solidFill>
                  <a:srgbClr val="03989E"/>
                </a:solidFill>
                <a:latin typeface="Courier Prime"/>
                <a:ea typeface="Courier Prime"/>
                <a:cs typeface="Courier Prime"/>
                <a:sym typeface="Courier Prime"/>
              </a:rPr>
              <a:t>FASE 3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1100378" y="3370468"/>
            <a:ext cx="2598314" cy="3345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58"/>
              </a:lnSpc>
            </a:pPr>
            <a:r>
              <a:rPr lang="en-US" sz="2014">
                <a:solidFill>
                  <a:srgbClr val="8C52FF"/>
                </a:solidFill>
                <a:latin typeface="Courier Prime"/>
                <a:ea typeface="Courier Prime"/>
                <a:cs typeface="Courier Prime"/>
                <a:sym typeface="Courier Prime"/>
              </a:rPr>
              <a:t>FASE 4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4345203" y="3370468"/>
            <a:ext cx="2598314" cy="3345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58"/>
              </a:lnSpc>
            </a:pPr>
            <a:r>
              <a:rPr lang="en-US" sz="2014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FASE 5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1331185" y="2134524"/>
            <a:ext cx="431419" cy="431419"/>
            <a:chOff x="0" y="0"/>
            <a:chExt cx="6350000" cy="63500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914D"/>
            </a:solidFill>
          </p:spPr>
        </p:sp>
      </p:grpSp>
      <p:grpSp>
        <p:nvGrpSpPr>
          <p:cNvPr id="25" name="Group 25"/>
          <p:cNvGrpSpPr/>
          <p:nvPr/>
        </p:nvGrpSpPr>
        <p:grpSpPr>
          <a:xfrm>
            <a:off x="4589309" y="2134524"/>
            <a:ext cx="431419" cy="431419"/>
            <a:chOff x="0" y="0"/>
            <a:chExt cx="6350000" cy="63500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737373"/>
            </a:solidFill>
          </p:spPr>
        </p:sp>
      </p:grpSp>
      <p:grpSp>
        <p:nvGrpSpPr>
          <p:cNvPr id="27" name="Group 27"/>
          <p:cNvGrpSpPr/>
          <p:nvPr/>
        </p:nvGrpSpPr>
        <p:grpSpPr>
          <a:xfrm>
            <a:off x="7844843" y="2134524"/>
            <a:ext cx="431419" cy="431419"/>
            <a:chOff x="0" y="0"/>
            <a:chExt cx="6350000" cy="635000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737373"/>
            </a:solidFill>
          </p:spPr>
        </p:sp>
      </p:grpSp>
      <p:grpSp>
        <p:nvGrpSpPr>
          <p:cNvPr id="29" name="Group 29"/>
          <p:cNvGrpSpPr/>
          <p:nvPr/>
        </p:nvGrpSpPr>
        <p:grpSpPr>
          <a:xfrm>
            <a:off x="11100378" y="2134524"/>
            <a:ext cx="431419" cy="431419"/>
            <a:chOff x="0" y="0"/>
            <a:chExt cx="6350000" cy="635000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737373"/>
            </a:solidFill>
          </p:spPr>
        </p:sp>
      </p:grpSp>
      <p:grpSp>
        <p:nvGrpSpPr>
          <p:cNvPr id="31" name="Group 31"/>
          <p:cNvGrpSpPr/>
          <p:nvPr/>
        </p:nvGrpSpPr>
        <p:grpSpPr>
          <a:xfrm>
            <a:off x="14345203" y="2134524"/>
            <a:ext cx="431419" cy="431419"/>
            <a:chOff x="0" y="0"/>
            <a:chExt cx="6350000" cy="635000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737373"/>
            </a:solidFill>
          </p:spPr>
        </p:sp>
      </p:grpSp>
      <p:sp>
        <p:nvSpPr>
          <p:cNvPr id="33" name="AutoShape 33"/>
          <p:cNvSpPr/>
          <p:nvPr/>
        </p:nvSpPr>
        <p:spPr>
          <a:xfrm>
            <a:off x="1762603" y="2350233"/>
            <a:ext cx="12889960" cy="0"/>
          </a:xfrm>
          <a:prstGeom prst="line">
            <a:avLst/>
          </a:prstGeom>
          <a:ln w="47625" cap="flat">
            <a:solidFill>
              <a:srgbClr val="737373"/>
            </a:solidFill>
            <a:prstDash val="sysDot"/>
            <a:headEnd type="none" w="sm" len="sm"/>
            <a:tailEnd type="none" w="sm" len="sm"/>
          </a:ln>
        </p:spPr>
      </p:sp>
      <p:sp>
        <p:nvSpPr>
          <p:cNvPr id="34" name="TextBox 34"/>
          <p:cNvSpPr txBox="1"/>
          <p:nvPr/>
        </p:nvSpPr>
        <p:spPr>
          <a:xfrm>
            <a:off x="16557135" y="8656320"/>
            <a:ext cx="702165" cy="3409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551"/>
              </a:lnSpc>
            </a:pPr>
            <a:r>
              <a:rPr lang="en-US" sz="2238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}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028700" y="1028700"/>
            <a:ext cx="7031406" cy="3409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51"/>
              </a:lnSpc>
            </a:pPr>
            <a:r>
              <a:rPr lang="en-US" sz="2238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Planificación del Sistema de Inventario {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1022</Words>
  <Application>Microsoft Office PowerPoint</Application>
  <PresentationFormat>Personalizado</PresentationFormat>
  <Paragraphs>113</Paragraphs>
  <Slides>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4" baseType="lpstr">
      <vt:lpstr>Courier Prime</vt:lpstr>
      <vt:lpstr>Calibri</vt:lpstr>
      <vt:lpstr>Arial</vt:lpstr>
      <vt:lpstr>Courier Prime Bold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Texto del párrafo</dc:title>
  <cp:lastModifiedBy>Usuario</cp:lastModifiedBy>
  <cp:revision>2</cp:revision>
  <dcterms:created xsi:type="dcterms:W3CDTF">2006-08-16T00:00:00Z</dcterms:created>
  <dcterms:modified xsi:type="dcterms:W3CDTF">2026-06-02T15:12:48Z</dcterms:modified>
  <dc:identifier>DAHLbc29iaM</dc:identifier>
</cp:coreProperties>
</file>